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
"Buenos días. Presento la Parte 3 del trabajo: control con aproximación de funciones sobre el entorno Pendulum-v1. El entorno tiene estado y acción continuos, lo que hace inviable cualquier método tabular. Implementamos y comparamos SARSA semi-gradiente con Tile Coding y Deep Q-Learning."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Entorno
"La tabla muestra los componentes del entorno. El output real del notebook confirma los rangos de observación y las 11 acciones discretas que usaremos. La motivación para no usar métodos tabulares es directa: el espacio es continuo, y una discretización gruesa de 50 valores por dimensión daría 125.000 estados, con generalización nula entre celdas vecinas."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SARSA
"La regla de actualización de SARSA semi-gradiente ajusta el vector de pesos w proporcionalmente al TD-error y al gradiente de q̂. Como la función es lineal sobre Tile Coding, el gradiente es simplemente el vector de features activas — solo se actualizan los 4 tiles activos en cada paso de los 44.000 parámetros totales.
El output real del notebook: 1500 episodios en 2 minutos 15 segundos, recompensa media final de -302.2."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DQN
"DQN usa una red neuronal de dos capas de 128 neuronas para aproximar Q(s,a) para las 11 acciones simultáneamente. Las dos innovaciones clave son Experience Replay — que reutiliza experiencias pasadas y rompe correlaciones — y Target Network — que estabiliza los objetivos de aprendizaje.
El output real: 1500 episodios en 16 minutos, recompensa media -292.2."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Gráfica
"Esta es la figura exacta que produce el notebook. Tres subgráficas:
(A) Curvas de recompensa media suavizada con ventana de 50 episodios. Ambos agentes parten de -1200. DQN en naranja converge más rápido que SARSA en azul.
(B) Error TD del DQN: pico alrededor del episodio 250 cuando el buffer se llena, luego decrece y se estabiliza — señal de convergencia.
(C) Boxplot de los últimos 300 episodios: la caja de SARSA es mucho más amplia, evidenciando su mayor inestabilidad."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Tabla de resultados
"Este es el output literal del notebook. La recompensa media es similar: -302 vs -292. Pero la desviación estándar es el dato clave: 267 SARSA vs 125 DQN, el doble de estable con DQN.
SARSA alcanzó -0.5 en su mejor episodio, casi el óptimo, pero no lo mantiene. DQN converge el doble de rápido en episodios, aunque tarda 7 veces más en tiempo de reloj."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Conclusiones
"Cuatro conclusiones directas del notebook. Los métodos tabulares no son viables en Pendulum. SARSA semi-gradiente funciona y alcanzó -0.5 en su mejor episodio, pero tiene alta varianza. DQN es más estable y converge más rápido en episodios, a costa de 7 veces más tiempo de cómputo. Existe un trade-off real entre calidad y coste que justifica cada método según el contexto.
Gracias, quedo abierto a preguntas."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548640"/>
            <a:ext cx="4572000" cy="45720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— Control con Aproximaciones: Pendulum-v1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por Refuerzo · Máster en IA · Universidad de Murcia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notebook implementa y compara dos métodos de control con aproximación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funciones sobre el entorno Pendulum-v1 de Gymnasium: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3931920" cy="777240"/>
          </a:xfrm>
          <a:prstGeom prst="rect">
            <a:avLst/>
          </a:prstGeom>
          <a:solidFill>
            <a:srgbClr val="1565C0">
              <a:alpha val="82000"/>
            </a:srgbClr>
          </a:solidFill>
          <a:ln w="19050">
            <a:solidFill>
              <a:srgbClr val="64B5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Semi-gradiente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Tile Coding (aproximación lineal)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4206240" cy="777240"/>
          </a:xfrm>
          <a:prstGeom prst="rect">
            <a:avLst/>
          </a:prstGeom>
          <a:solidFill>
            <a:srgbClr val="BF360C">
              <a:alpha val="82000"/>
            </a:srgbClr>
          </a:solidFill>
          <a:ln w="19050">
            <a:solidFill>
              <a:srgbClr val="EF9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Q-Learning (DQN)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6334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red neuronal y Experience Replay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841248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986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tiene espacio de observaciones continuo (ángulo y velocidad angular) y espacio de acciones continuo (par de torsión). Esto hace inviable cualquier método tabular y justifica el uso de métodos aproximados. Para aplicar DQN se discretiza el espacio de acciones.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Contenido: 1. Config  2. Entorno  3. SARSA Semi-gradiente  4. DQN  5. Comparativa  6. Conclusiones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Descripción del entorno y justificación del uso de métodos aproximados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86384"/>
          <a:ext cx="54864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[cos(θ), sin(θ), dθ/dt] — continuo en ℝ³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de torsión ∈ [-2, 2] N·m — continuo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Recompensa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-(θ² + 0.1·ω² + 0.001·u²) — siempre negativa; máximo =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pasos (truncado), sin estado terminal de éxito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2724912"/>
            <a:ext cx="5486400" cy="987552"/>
          </a:xfrm>
          <a:prstGeom prst="rect">
            <a:avLst/>
          </a:prstGeom>
          <a:solidFill>
            <a:srgbClr val="ECEFF1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2788920"/>
            <a:ext cx="532180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Entorno        : Pendulum-v1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Observación    : Box([-1. -1. -8.], [1. 1. 8.], (3,), float32)  (dim=3)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Acción original: Box(-2.0, 2.0, (1,), float32)  (continua)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Acciones discr.: 11 valores → [-2.  -1.6 -1.2 -0.8 -0.4  0.   0.4  0.8  1.2  1.6  2.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Recompensa     : siempre ≤ 0,  óptimo = 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89320" y="786384"/>
            <a:ext cx="2880360" cy="2011680"/>
          </a:xfrm>
          <a:prstGeom prst="rect">
            <a:avLst/>
          </a:prstGeom>
          <a:solidFill>
            <a:srgbClr val="EEF2FF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08192" y="8412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sirven los métodos tabulares?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08192" y="1161288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espacio de observaciones es continuo: no se puede construir una tabla Q finita.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Incluso con 50×50×50 celdas → 125.000 estados × 11 acciones = inmanejable.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Justifica Tile Coding (SARSA semi-gradiente) y redes neuronales (DQN).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9320" y="2907792"/>
            <a:ext cx="2880360" cy="1691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08192" y="29626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Discretización del espacio de acciones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08192" y="32552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Dividimos [-2, 2] en N_ACTIONS=11 valores equiespaciados: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3639312"/>
            <a:ext cx="2880360" cy="804672"/>
          </a:xfrm>
          <a:prstGeom prst="rect">
            <a:avLst/>
          </a:prstGeom>
          <a:solidFill>
            <a:srgbClr val="1E1E2E"/>
          </a:solidFill>
          <a:ln w="8890">
            <a:solidFill>
              <a:srgbClr val="3C3F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3712464"/>
            <a:ext cx="271576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N_ACTIONS = 11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ACTION_MAP = np.linspace(-2.0, 2.0, 11)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SARSA Semi-gradiente con Tile Coding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353312"/>
          </a:xfrm>
          <a:prstGeom prst="rect">
            <a:avLst/>
          </a:prstGeom>
          <a:solidFill>
            <a:srgbClr val="EEF2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(Cell 7)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← w + α · δ · ∇w q̂(S, A, w)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49047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R + γ · q̂(S', A', w) − q̂(S, A, w)    [TD-error]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q̂ es lineal  →  ∇w q̂ = x(s,a)  →  solo actualizar tiles activos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7627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Coding para Pendulum (Cell 8)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4414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Espacio: [cosθ, sinθ, θ̇] ∈ [-1,1]² × [-8,8]  →  4 tilings × 10×10×10 bins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724912"/>
            <a:ext cx="8595360" cy="438912"/>
          </a:xfrm>
          <a:prstGeom prst="rect">
            <a:avLst/>
          </a:prstGeom>
          <a:solidFill>
            <a:srgbClr val="ECEFF1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88920"/>
            <a:ext cx="84307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Dimensión del vector de pesos w: 4000 features × 11 acciones = 44000 parámetros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329184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SARSA (Cell 10)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5212080" cy="1005840"/>
          </a:xfrm>
          <a:prstGeom prst="rect">
            <a:avLst/>
          </a:prstGeom>
          <a:solidFill>
            <a:srgbClr val="1E1E2E"/>
          </a:solidFill>
          <a:ln w="8890">
            <a:solidFill>
              <a:srgbClr val="3C3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39312"/>
            <a:ext cx="504748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sarsa_agent = SARSASemiGradientAgent(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n_features = N_FEATURES,  n_actions = N_ACTIONS,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alpha      = 0.2,         gamma     = 0.99,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epsilon    = 1.0,         eps_decay = 0.997,   eps_min = 0.05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N_EPISODES_SARSA = 1500   |   MAX_STEPS = 200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3566160"/>
            <a:ext cx="3291840" cy="1005840"/>
          </a:xfrm>
          <a:prstGeom prst="rect">
            <a:avLst/>
          </a:prstGeom>
          <a:solidFill>
            <a:srgbClr val="ECEFF1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3630168"/>
            <a:ext cx="312724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SARSA Semi-gradiente: 100%|██████████| 1500/1500 [02:15&lt;00:00, 11.09it/s]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Recompensa media (últimos 100 ep.): -302.2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Deep Q-Learning (DQN)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FFF3E0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(Cell 11)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L(θ) = E[ ( r + γ · max_a' Q(s', a'; θ⁻) − Q(s, a; θ) )² 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82296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θ⁻ = Target Network (se actualiza cada target_update=10 episodios)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0" cy="1143000"/>
          </a:xfrm>
          <a:prstGeom prst="rect">
            <a:avLst/>
          </a:prstGeom>
          <a:solidFill>
            <a:srgbClr val="EEF2FF"/>
          </a:solidFill>
          <a:ln w="19050">
            <a:solidFill>
              <a:srgbClr val="BF36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4114800" cy="329184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282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Replay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transiciones (s,a,r,s') en un buffer (cap=50.000). Muestrea mini-batches de 64 para cada update. Rompe correlaciones temporales.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4114800" cy="1143000"/>
          </a:xfrm>
          <a:prstGeom prst="rect">
            <a:avLst/>
          </a:prstGeom>
          <a:solidFill>
            <a:srgbClr val="EEF2FF"/>
          </a:solidFill>
          <a:ln w="19050">
            <a:solidFill>
              <a:srgbClr val="0277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691640"/>
            <a:ext cx="4114800" cy="3291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2821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075688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objetivo θ⁻ separada de la online θ. Se sincroniza cada 10 episodios. Evita el 'moving target problem' que desestabiliza el entrenamiento.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962656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QNetwork (Cell 12)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36976"/>
            <a:ext cx="5029200" cy="1371600"/>
          </a:xfrm>
          <a:prstGeom prst="rect">
            <a:avLst/>
          </a:prstGeom>
          <a:solidFill>
            <a:srgbClr val="1E1E2E"/>
          </a:solidFill>
          <a:ln w="8890">
            <a:solidFill>
              <a:srgbClr val="3C3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10128"/>
            <a:ext cx="4864608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Entrada: state_dim=3  (cos θ, sin θ, dθ/dt)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Capa 1:  128 neuronas, ReLU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Capa 2:  128 neuronas, ReLU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Salida:  n_actions=11  →  Q(s,a) para cada acción discreta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self.net = nn.Sequential(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nn.Linear(3, 128), nn.ReLU(),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nn.Linear(128, 128), nn.ReLU(),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nn.Linear(128, 11)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Inicialización: Kaiming Uniform (recomendado para ReLU)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0" y="296265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DQN (Cell 14)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3236976"/>
            <a:ext cx="3383280" cy="1005840"/>
          </a:xfrm>
          <a:prstGeom prst="rect">
            <a:avLst/>
          </a:prstGeom>
          <a:solidFill>
            <a:srgbClr val="1E1E2E"/>
          </a:solidFill>
          <a:ln w="8890">
            <a:solidFill>
              <a:srgbClr val="3C3F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3310128"/>
            <a:ext cx="3218688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dqn_agent = DQNAgent(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state_dim=3, n_actions=11,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lr=1e-3,   gamma=0.99,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epsilon=1.0, eps_decay=0.997,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eps_min=0.05, batch_size=64,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buffer_cap=50_000,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target_update=10 )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0" y="4297680"/>
            <a:ext cx="3383280" cy="731520"/>
          </a:xfrm>
          <a:prstGeom prst="rect">
            <a:avLst/>
          </a:prstGeom>
          <a:solidFill>
            <a:srgbClr val="ECEFF1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4361688"/>
            <a:ext cx="32186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DQN: 100%|████| 1500/1500 [16:12&lt;00:00,  1.54it/s]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Pesos guardados en dqn_pendulum.pth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Recompensa media (últimos 100 ep.): -292.2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Estudio comparativo — Gráfica del notebook (Cell 16)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146304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OUTPUT REAL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80467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modificaciones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15568"/>
            <a:ext cx="8778240" cy="2606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79476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(Cell 16)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4059936"/>
            <a:ext cx="8595360" cy="804672"/>
          </a:xfrm>
          <a:prstGeom prst="rect">
            <a:avLst/>
          </a:prstGeom>
          <a:solidFill>
            <a:srgbClr val="1E1E2E"/>
          </a:solidFill>
          <a:ln w="8890">
            <a:solidFill>
              <a:srgbClr val="3C3F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133088"/>
            <a:ext cx="843076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= {'sarsa': '#1976D2', 'dqn': '#E64A19'}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(A) Recompensa media suavizada (ventana=50 ep.)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(B) Error TD medio — DQN (ventana=50)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(C) Distribución recompensas (últimos 300 ep.) — boxplot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plt.savefig('pendulum_comparison.png', dpi=150, bbox_inches='tight')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Tabla de resultados — Output del notebook (Cell 17)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786384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(Cell 17)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1664208"/>
          </a:xfrm>
          <a:prstGeom prst="rect">
            <a:avLst/>
          </a:prstGeom>
          <a:solidFill>
            <a:srgbClr val="ECEFF1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843076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==============================================================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Métrica                                SARSA Semi-grad        DQN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Recompensa media (últimos 100 ep.)         -302.2     -292.2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Recompensa mejor episodio                    -0.5       -1.4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Desviación estándar (últimos 100 ep.)       267.7      125.4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Eps. hasta superar -300 (umbral)             1340        687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N.º parámetros                              44000      18443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==============================================================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(Cell 18)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108960"/>
            <a:ext cx="64008" cy="36576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1272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 media  (−302.2 vs −292.2)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3101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del ~3%. Ambos métodos aprenden. No es el dato más relevante.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511296"/>
            <a:ext cx="64008" cy="365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52958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episodio  (−0.5 vs −1.4)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71246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alcanzó −0.5, casi el óptimo teórico (0). Tile Coding bien configurado sí puede encontrar la política casi óptima.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913632"/>
            <a:ext cx="64008" cy="36576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93192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estándar  (267.7 vs 125.4) ← resultado clave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11480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es más del doble de estable. SARSA oscila entre episodios óptimos y catastróficos: límite de la aproximación lineal.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315968"/>
            <a:ext cx="64008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33425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Eps. hasta umbral −300  (1340 vs 687)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51713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converge casi 2× más rápido. Experience Replay reutiliza cada transición múltiples veces → mayor eficiencia de muestra.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718304"/>
            <a:ext cx="64008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73659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 (44.000 vs 18.443)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usa 2.4× más parámetros pero con peor calidad. La no linealidad de la red neuronal vale más que el tamaño.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5148072"/>
            <a:ext cx="8595360" cy="201168"/>
          </a:xfrm>
          <a:prstGeom prst="rect">
            <a:avLst/>
          </a:prstGeom>
          <a:solidFill>
            <a:srgbClr val="FFF8E1"/>
          </a:solidFill>
          <a:ln w="10160">
            <a:solidFill>
              <a:srgbClr val="F57F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16636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Tiempo: SARSA ~2 min 15 s  vs  DQN ~16 min 12 s  →  SARSA es 7× más rápido computacionalmente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Conclusiones  (Cells 18–19)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9326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60120"/>
            <a:ext cx="530352" cy="530352"/>
          </a:xfrm>
          <a:prstGeom prst="ellipse">
            <a:avLst/>
          </a:prstGeom>
          <a:solidFill>
            <a:srgbClr val="1565C0">
              <a:alpha val="75000"/>
            </a:srgbClr>
          </a:solidFill>
          <a:ln w="19050">
            <a:solidFill>
              <a:srgbClr val="7E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601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86868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tabulares inviables en Pendulum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16128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estados ℝ³ continuo. 20³ → 8.000 estados con generalización nula. Justifica el uso de métodos con aproximación de funciones. (Cell 19)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8503920" cy="9326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011680"/>
            <a:ext cx="530352" cy="530352"/>
          </a:xfrm>
          <a:prstGeom prst="ellipse">
            <a:avLst/>
          </a:prstGeom>
          <a:solidFill>
            <a:srgbClr val="2E7D32">
              <a:alpha val="75000"/>
            </a:srgbClr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116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92024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Semi-gradiente: viable, pero con alta varianza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21284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Ventajas: convergencia teórica garantizada, eficiente (4 pesos/paso). Limitación: σ=267.7, la aproximación lineal no generaliza bien entre todos los estados. (Cell 19)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8503920" cy="9326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CC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063240"/>
            <a:ext cx="530352" cy="530352"/>
          </a:xfrm>
          <a:prstGeom prst="ellipse">
            <a:avLst/>
          </a:prstGeom>
          <a:solidFill>
            <a:srgbClr val="BF360C">
              <a:alpha val="75000"/>
            </a:srgbClr>
          </a:solidFill>
          <a:ln w="19050">
            <a:solidFill>
              <a:srgbClr val="FFCC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0632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97180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DQN: más estable y convergencia más rápida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26440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σ=125.4 (2× más estable). Supera umbral en ep. 687 vs 1340. La red neuronal captura no linealidades que Tile Coding no puede representar. (Cell 18)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931920"/>
            <a:ext cx="8503920" cy="9326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114800"/>
            <a:ext cx="530352" cy="530352"/>
          </a:xfrm>
          <a:prstGeom prst="ellipse">
            <a:avLst/>
          </a:prstGeom>
          <a:solidFill>
            <a:srgbClr val="F57F17">
              <a:alpha val="75000"/>
            </a:srgbClr>
          </a:solidFill>
          <a:ln w="19050">
            <a:solidFill>
              <a:srgbClr val="FFF9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1148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0233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computacional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31596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SARSA: 2 min 15 s. DQN: 16 min 12 s (7× más lento). En entornos con restricciones de hardware SARSA puede ser preferible. (Cell 18)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4919472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Sutton &amp; Barto (2018). RL: An Introduction, Caps. 9, 10  ·  Mnih et al. (2015). Nature 518, 529–533  ·  gymnasium.farama.org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2026-03-01T22:19:53Z</dcterms:created>
  <dcterms:modified xsi:type="dcterms:W3CDTF">2026-03-01T22:19:53Z</dcterms:modified>
</cp:coreProperties>
</file>